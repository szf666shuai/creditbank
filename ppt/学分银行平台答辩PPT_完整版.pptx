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1828800"/>
            <a:ext cx="1828800" cy="1828800"/>
          </a:xfrm>
          <a:prstGeom prst="rect">
            <a:avLst/>
          </a:prstGeom>
          <a:solidFill>
            <a:srgbClr val="22C55E"/>
          </a:solidFill>
          <a:ln w="508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800" b="1">
                <a:solidFill>
                  <a:srgbClr val="1A202C"/>
                </a:solidFill>
              </a:defRPr>
            </a:pPr>
            <a:r>
              <a:t>学分银行平台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>
                <a:solidFill>
                  <a:srgbClr val="1A202C"/>
                </a:solidFill>
              </a:defRPr>
            </a:pPr>
            <a:r>
              <a:t>终身学习 · 成就未来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59436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「让学习成为一种生活方式」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1A202C"/>
                </a:solidFill>
              </a:defRPr>
            </a:pPr>
            <a:r>
              <a:t>02 / 12  答辩大纲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4114800" cy="2286000"/>
          </a:xfrm>
          <a:prstGeom prst="rect">
            <a:avLst/>
          </a:prstGeom>
          <a:solidFill>
            <a:srgbClr val="22C55E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468880" y="16459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377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品牌故事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260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>
                <a:solidFill>
                  <a:srgbClr val="FFFFFF"/>
                </a:solidFill>
              </a:defRPr>
            </a:pPr>
            <a:r>
              <a:t>为什么做这个项目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1371600"/>
            <a:ext cx="4114800" cy="2286000"/>
          </a:xfrm>
          <a:prstGeom prst="rect">
            <a:avLst/>
          </a:prstGeom>
          <a:solidFill>
            <a:srgbClr val="BEE3F8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6459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377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 b="1">
                <a:solidFill>
                  <a:srgbClr val="1A202C"/>
                </a:solidFill>
              </a:defRPr>
            </a:pPr>
            <a:r>
              <a:t>产品设计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9260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>
                <a:solidFill>
                  <a:srgbClr val="1A202C"/>
                </a:solidFill>
              </a:defRPr>
            </a:pPr>
            <a:r>
              <a:t>定位与视觉设计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0" y="1371600"/>
            <a:ext cx="4114800" cy="2286000"/>
          </a:xfrm>
          <a:prstGeom prst="rect">
            <a:avLst/>
          </a:prstGeom>
          <a:solidFill>
            <a:srgbClr val="FECDD3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0" y="16459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2377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 b="1">
                <a:solidFill>
                  <a:srgbClr val="1A202C"/>
                </a:solidFill>
              </a:defRPr>
            </a:pPr>
            <a:r>
              <a:t>核心功能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9260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>
                <a:solidFill>
                  <a:srgbClr val="1A202C"/>
                </a:solidFill>
              </a:defRPr>
            </a:pPr>
            <a:r>
              <a:t>AI助手与学分体系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931920"/>
            <a:ext cx="4114800" cy="2286000"/>
          </a:xfrm>
          <a:prstGeom prst="rect">
            <a:avLst/>
          </a:prstGeom>
          <a:solidFill>
            <a:srgbClr val="FEF08A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42062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🛠️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937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 b="1">
                <a:solidFill>
                  <a:srgbClr val="1A202C"/>
                </a:solidFill>
              </a:defRPr>
            </a:pPr>
            <a:r>
              <a:t>技术架构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4864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>
                <a:solidFill>
                  <a:srgbClr val="1A202C"/>
                </a:solidFill>
              </a:defRPr>
            </a:pPr>
            <a:r>
              <a:t>前后端技术栈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3931920"/>
            <a:ext cx="4114800" cy="2286000"/>
          </a:xfrm>
          <a:prstGeom prst="rect">
            <a:avLst/>
          </a:prstGeom>
          <a:solidFill>
            <a:srgbClr val="DDD6FE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42062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937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 b="1">
                <a:solidFill>
                  <a:srgbClr val="1A202C"/>
                </a:solidFill>
              </a:defRPr>
            </a:pPr>
            <a:r>
              <a:t>创新亮点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54864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>
                <a:solidFill>
                  <a:srgbClr val="1A202C"/>
                </a:solidFill>
              </a:defRPr>
            </a:pPr>
            <a:r>
              <a:t>差异化竞争力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0" y="3931920"/>
            <a:ext cx="4114800" cy="2286000"/>
          </a:xfrm>
          <a:prstGeom prst="rect">
            <a:avLst/>
          </a:prstGeom>
          <a:solidFill>
            <a:srgbClr val="BEE3F8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12880" y="42062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4937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 b="1">
                <a:solidFill>
                  <a:srgbClr val="1A202C"/>
                </a:solidFill>
              </a:defRPr>
            </a:pPr>
            <a:r>
              <a:t>团队总结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54864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>
                <a:solidFill>
                  <a:srgbClr val="1A202C"/>
                </a:solidFill>
              </a:defRPr>
            </a:pPr>
            <a:r>
              <a:t>成员与成果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1A202C"/>
                </a:solidFill>
              </a:defRPr>
            </a:pPr>
            <a:r>
              <a:t>03 / 12  品牌故事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4114800" cy="3200400"/>
          </a:xfrm>
          <a:prstGeom prst="rect">
            <a:avLst/>
          </a:prstGeom>
          <a:solidFill>
            <a:srgbClr val="FECDD3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468880" y="16459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/>
            </a:pPr>
            <a:r>
              <a:t>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4688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1A202C"/>
                </a:solidFill>
              </a:defRPr>
            </a:pPr>
            <a:r>
              <a:t>大学与社会的脱节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017520"/>
            <a:ext cx="3657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>
                <a:solidFill>
                  <a:srgbClr val="1A202C"/>
                </a:solidFill>
              </a:defRPr>
            </a:pPr>
            <a:r>
              <a:t>大学教授传授的知识与社会工作实际需要的技能存在差距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1371600"/>
            <a:ext cx="4114800" cy="3200400"/>
          </a:xfrm>
          <a:prstGeom prst="rect">
            <a:avLst/>
          </a:prstGeom>
          <a:solidFill>
            <a:srgbClr val="FEF08A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6459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/>
            </a:pPr>
            <a:r>
              <a:t>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4688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1A202C"/>
                </a:solidFill>
              </a:defRPr>
            </a:pPr>
            <a:r>
              <a:t>终身学习的需求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3017520"/>
            <a:ext cx="3657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>
                <a:solidFill>
                  <a:srgbClr val="1A202C"/>
                </a:solidFill>
              </a:defRPr>
            </a:pPr>
            <a:r>
              <a:t>随着技术快速发展，知识更新周期缩短，人们需要不断学习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0" y="1371600"/>
            <a:ext cx="4114800" cy="3200400"/>
          </a:xfrm>
          <a:prstGeom prst="rect">
            <a:avLst/>
          </a:prstGeom>
          <a:solidFill>
            <a:srgbClr val="BEE3F8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0" y="16459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/>
            </a:pPr>
            <a:r>
              <a:t>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24688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1A202C"/>
                </a:solidFill>
              </a:defRPr>
            </a:pPr>
            <a:r>
              <a:t>企业人才培养困境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3017520"/>
            <a:ext cx="3657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>
                <a:solidFill>
                  <a:srgbClr val="1A202C"/>
                </a:solidFill>
              </a:defRPr>
            </a:pPr>
            <a:r>
              <a:t>企业难以找到符合岗位要求的人才，培训成本高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029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 b="1">
                <a:solidFill>
                  <a:srgbClr val="22C55E"/>
                </a:solidFill>
              </a:defRPr>
            </a:pPr>
            <a:r>
              <a:t>学分银行平台 - 连接学习与就业，打造终身学习生态圈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1A202C"/>
                </a:solidFill>
              </a:defRPr>
            </a:pPr>
            <a:r>
              <a:t>04 / 12  产品定位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5943600" cy="3657600"/>
          </a:xfrm>
          <a:prstGeom prst="rect">
            <a:avLst/>
          </a:prstGeom>
          <a:solidFill>
            <a:srgbClr val="22C55E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383280" y="18288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800"/>
            </a:pPr>
            <a:r>
              <a:t>🏋️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学习的健身房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371600"/>
            <a:ext cx="5943600" cy="3657600"/>
          </a:xfrm>
          <a:prstGeom prst="rect">
            <a:avLst/>
          </a:prstGeom>
          <a:solidFill>
            <a:srgbClr val="BEE3F8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18288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800"/>
            </a:pPr>
            <a:r>
              <a:t>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1A202C"/>
                </a:solidFill>
              </a:defRPr>
            </a:pPr>
            <a:r>
              <a:t>知识的图书馆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86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>
                <a:solidFill>
                  <a:srgbClr val="1A202C"/>
                </a:solidFill>
              </a:defRPr>
            </a:pPr>
            <a:r>
              <a:t>为什么在家能学习还要去图书馆？因为氛围与心理暗示无可替代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1A202C"/>
                </a:solidFill>
              </a:defRPr>
            </a:pPr>
            <a:r>
              <a:t>05 / 12  色彩心理学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3200400" cy="2286000"/>
          </a:xfrm>
          <a:prstGeom prst="rect">
            <a:avLst/>
          </a:prstGeom>
          <a:solidFill>
            <a:srgbClr val="22C55E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绿色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28600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100">
                <a:solidFill>
                  <a:srgbClr val="FFFFFF"/>
                </a:solidFill>
              </a:defRPr>
            </a:pPr>
            <a:r>
              <a:t>成长、希望、活力、教育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71600"/>
            <a:ext cx="3200400" cy="2286000"/>
          </a:xfrm>
          <a:prstGeom prst="rect">
            <a:avLst/>
          </a:prstGeom>
          <a:solidFill>
            <a:srgbClr val="FFF9F0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7373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b="1">
                <a:solidFill>
                  <a:srgbClr val="1A202C"/>
                </a:solidFill>
              </a:defRPr>
            </a:pPr>
            <a:r>
              <a:t>奶油色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28600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100">
                <a:solidFill>
                  <a:srgbClr val="1A202C"/>
                </a:solidFill>
              </a:defRPr>
            </a:pPr>
            <a:r>
              <a:t>温暖、舒适、包容、亲和力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371600"/>
            <a:ext cx="3200400" cy="2286000"/>
          </a:xfrm>
          <a:prstGeom prst="rect">
            <a:avLst/>
          </a:prstGeom>
          <a:solidFill>
            <a:srgbClr val="BEE3F8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7373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b="1">
                <a:solidFill>
                  <a:srgbClr val="1A202C"/>
                </a:solidFill>
              </a:defRPr>
            </a:pPr>
            <a:r>
              <a:t>蓝色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28600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100">
                <a:solidFill>
                  <a:srgbClr val="1A202C"/>
                </a:solidFill>
              </a:defRPr>
            </a:pPr>
            <a:r>
              <a:t>专业、信任、科技感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38559" y="1371600"/>
            <a:ext cx="3200400" cy="2286000"/>
          </a:xfrm>
          <a:prstGeom prst="rect">
            <a:avLst/>
          </a:prstGeom>
          <a:solidFill>
            <a:srgbClr val="FEF08A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95759" y="17373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b="1">
                <a:solidFill>
                  <a:srgbClr val="1A202C"/>
                </a:solidFill>
              </a:defRPr>
            </a:pPr>
            <a:r>
              <a:t>黄色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79" y="228600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100">
                <a:solidFill>
                  <a:srgbClr val="1A202C"/>
                </a:solidFill>
              </a:defRPr>
            </a:pPr>
            <a:r>
              <a:t>活力、创意、注意力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 b="1">
                <a:solidFill>
                  <a:srgbClr val="1A202C"/>
                </a:solidFill>
              </a:defRPr>
            </a:pPr>
            <a:r>
              <a:t>Neo-brutal设计风格：粗边框、硬阴影、大胆配色，打造独特的视觉识别度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1A202C"/>
                </a:solidFill>
              </a:defRPr>
            </a:pPr>
            <a:r>
              <a:t>06 / 12  核心功能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4114800" cy="2011680"/>
          </a:xfrm>
          <a:prstGeom prst="rect">
            <a:avLst/>
          </a:prstGeom>
          <a:solidFill>
            <a:srgbClr val="22C55E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468880" y="1645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智能学习助手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1371600"/>
            <a:ext cx="4114800" cy="2011680"/>
          </a:xfrm>
          <a:prstGeom prst="rect">
            <a:avLst/>
          </a:prstGeom>
          <a:solidFill>
            <a:srgbClr val="FECDD3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645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860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1A202C"/>
                </a:solidFill>
              </a:defRPr>
            </a:pPr>
            <a:r>
              <a:t>学习管理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0" y="1371600"/>
            <a:ext cx="4114800" cy="2011680"/>
          </a:xfrm>
          <a:prstGeom prst="rect">
            <a:avLst/>
          </a:prstGeom>
          <a:solidFill>
            <a:srgbClr val="DDD6FE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0" y="1645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22860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1A202C"/>
                </a:solidFill>
              </a:defRPr>
            </a:pPr>
            <a:r>
              <a:t>企业对接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657600"/>
            <a:ext cx="4114800" cy="2011680"/>
          </a:xfrm>
          <a:prstGeom prst="rect">
            <a:avLst/>
          </a:prstGeom>
          <a:solidFill>
            <a:srgbClr val="FEF08A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3931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5720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1A202C"/>
                </a:solidFill>
              </a:defRPr>
            </a:pPr>
            <a:r>
              <a:t>学分银行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3657600"/>
            <a:ext cx="4114800" cy="2011680"/>
          </a:xfrm>
          <a:prstGeom prst="rect">
            <a:avLst/>
          </a:prstGeom>
          <a:solidFill>
            <a:srgbClr val="BEE3F8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3931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5720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1A202C"/>
                </a:solidFill>
              </a:defRPr>
            </a:pPr>
            <a:r>
              <a:t>社区论坛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0" y="3657600"/>
            <a:ext cx="4114800" cy="2011680"/>
          </a:xfrm>
          <a:prstGeom prst="rect">
            <a:avLst/>
          </a:prstGeom>
          <a:solidFill>
            <a:srgbClr val="BEE3F8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12880" y="3931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45720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1A202C"/>
                </a:solidFill>
              </a:defRPr>
            </a:pPr>
            <a:r>
              <a:t>诚信体系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6大核心模块，构建完整的终身学习生态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1A202C"/>
                </a:solidFill>
              </a:defRPr>
            </a:pPr>
            <a:r>
              <a:t>07 / 12  AI智能助手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5943600" cy="3657600"/>
          </a:xfrm>
          <a:prstGeom prst="rect">
            <a:avLst/>
          </a:prstGeom>
          <a:solidFill>
            <a:srgbClr val="22C55E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383280" y="18288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800"/>
            </a:pPr>
            <a:r>
              <a:t>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学习伙伴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>
                <a:solidFill>
                  <a:srgbClr val="FFFFFF"/>
                </a:solidFill>
              </a:defRPr>
            </a:pPr>
            <a:r>
              <a:t>24小时陪伴式学习助手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371600"/>
            <a:ext cx="5943600" cy="3657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 b="1">
                <a:solidFill>
                  <a:srgbClr val="22C55E"/>
                </a:solidFill>
              </a:defRPr>
            </a:pPr>
            <a:r>
              <a:t>AI: 你好！我是你的学习助手，请问有什么可以帮你的？</a:t>
            </a:r>
          </a:p>
          <a:p>
            <a:pPr>
              <a:defRPr sz="1000" b="1">
                <a:solidFill>
                  <a:srgbClr val="BEE3F8"/>
                </a:solidFill>
              </a:defRPr>
            </a:pPr>
            <a:r>
              <a:t>你: 我想学习Python，有什么推荐的课程吗？</a:t>
            </a:r>
          </a:p>
          <a:p>
            <a:pPr>
              <a:defRPr sz="1000" b="1">
                <a:solidFill>
                  <a:srgbClr val="22C55E"/>
                </a:solidFill>
              </a:defRPr>
            </a:pPr>
            <a:r>
              <a:t>AI: 根据你的学习目标，我推荐Python基础入门等课程。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486400"/>
            <a:ext cx="32004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5778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>
                <a:solidFill>
                  <a:srgbClr val="1A202C"/>
                </a:solidFill>
              </a:defRPr>
            </a:pPr>
            <a:r>
              <a:t>智能课程推荐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5486400"/>
            <a:ext cx="32004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55778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>
                <a:solidFill>
                  <a:srgbClr val="1A202C"/>
                </a:solidFill>
              </a:defRPr>
            </a:pPr>
            <a:r>
              <a:t>实时答疑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5486400"/>
            <a:ext cx="32004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55778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>
                <a:solidFill>
                  <a:srgbClr val="1A202C"/>
                </a:solidFill>
              </a:defRPr>
            </a:pPr>
            <a:r>
              <a:t>简历生成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338559" y="5486400"/>
            <a:ext cx="32004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79" y="55778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>
                <a:solidFill>
                  <a:srgbClr val="1A202C"/>
                </a:solidFill>
              </a:defRPr>
            </a:pPr>
            <a:r>
              <a:t>学习规划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1A202C"/>
                </a:solidFill>
              </a:defRPr>
            </a:pPr>
            <a:r>
              <a:t>08 / 12  技术架构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5486400" cy="1371600"/>
          </a:xfrm>
          <a:prstGeom prst="rect">
            <a:avLst/>
          </a:prstGeom>
          <a:solidFill>
            <a:srgbClr val="FECDD3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1A202C"/>
                </a:solidFill>
              </a:defRPr>
            </a:pPr>
            <a:r>
              <a:t>前端层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A202C"/>
                </a:solidFill>
              </a:defRPr>
            </a:pPr>
            <a:r>
              <a:t>• Vue 3</a:t>
            </a:r>
          </a:p>
          <a:p>
            <a:pPr>
              <a:defRPr sz="1000">
                <a:solidFill>
                  <a:srgbClr val="1A202C"/>
                </a:solidFill>
              </a:defRPr>
            </a:pPr>
            <a:r>
              <a:t>• Element Plus</a:t>
            </a:r>
          </a:p>
          <a:p>
            <a:pPr>
              <a:defRPr sz="1000">
                <a:solidFill>
                  <a:srgbClr val="1A202C"/>
                </a:solidFill>
              </a:defRPr>
            </a:pPr>
            <a:r>
              <a:t>• Vite</a:t>
            </a:r>
          </a:p>
          <a:p>
            <a:pPr>
              <a:defRPr sz="1000">
                <a:solidFill>
                  <a:srgbClr val="1A202C"/>
                </a:solidFill>
              </a:defRPr>
            </a:pPr>
            <a:r>
              <a:t>• Pinia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017520"/>
            <a:ext cx="5486400" cy="1371600"/>
          </a:xfrm>
          <a:prstGeom prst="rect">
            <a:avLst/>
          </a:prstGeom>
          <a:solidFill>
            <a:srgbClr val="22C55E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1089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1A202C"/>
                </a:solidFill>
              </a:defRPr>
            </a:pPr>
            <a:r>
              <a:t>后端层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56616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A202C"/>
                </a:solidFill>
              </a:defRPr>
            </a:pPr>
            <a:r>
              <a:t>• Spring Boot</a:t>
            </a:r>
          </a:p>
          <a:p>
            <a:pPr>
              <a:defRPr sz="1000">
                <a:solidFill>
                  <a:srgbClr val="1A202C"/>
                </a:solidFill>
              </a:defRPr>
            </a:pPr>
            <a:r>
              <a:t>• MyBatis Plus</a:t>
            </a:r>
          </a:p>
          <a:p>
            <a:pPr>
              <a:defRPr sz="1000">
                <a:solidFill>
                  <a:srgbClr val="1A202C"/>
                </a:solidFill>
              </a:defRPr>
            </a:pPr>
            <a:r>
              <a:t>• JWT</a:t>
            </a:r>
          </a:p>
          <a:p>
            <a:pPr>
              <a:defRPr sz="1000">
                <a:solidFill>
                  <a:srgbClr val="1A202C"/>
                </a:solidFill>
              </a:defRPr>
            </a:pPr>
            <a:r>
              <a:t>• WebSocket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663440"/>
            <a:ext cx="5486400" cy="1371600"/>
          </a:xfrm>
          <a:prstGeom prst="rect">
            <a:avLst/>
          </a:prstGeom>
          <a:solidFill>
            <a:srgbClr val="FEF08A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754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1A202C"/>
                </a:solidFill>
              </a:defRPr>
            </a:pPr>
            <a:r>
              <a:t>数据层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21208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A202C"/>
                </a:solidFill>
              </a:defRPr>
            </a:pPr>
            <a:r>
              <a:t>• MySQL 8.0</a:t>
            </a:r>
          </a:p>
          <a:p>
            <a:pPr>
              <a:defRPr sz="1000">
                <a:solidFill>
                  <a:srgbClr val="1A202C"/>
                </a:solidFill>
              </a:defRPr>
            </a:pPr>
            <a:r>
              <a:t>• Redis 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1371600"/>
            <a:ext cx="6400800" cy="3657600"/>
          </a:xfrm>
          <a:prstGeom prst="rect">
            <a:avLst/>
          </a:prstGeom>
          <a:solidFill>
            <a:srgbClr val="BEE3F8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16459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300" b="1">
                <a:solidFill>
                  <a:srgbClr val="1A202C"/>
                </a:solidFill>
              </a:defRPr>
            </a:pPr>
            <a:r>
              <a:t>前端技术栈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10312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A202C"/>
                </a:solidFill>
              </a:defRPr>
            </a:pPr>
            <a:r>
              <a:t>• Vue 3.5.x</a:t>
            </a:r>
          </a:p>
          <a:p>
            <a:pPr>
              <a:defRPr sz="1000">
                <a:solidFill>
                  <a:srgbClr val="1A202C"/>
                </a:solidFill>
              </a:defRPr>
            </a:pPr>
            <a:r>
              <a:t>• Vite 8.1.x</a:t>
            </a:r>
          </a:p>
          <a:p>
            <a:pPr>
              <a:defRPr sz="1000">
                <a:solidFill>
                  <a:srgbClr val="1A202C"/>
                </a:solidFill>
              </a:defRPr>
            </a:pPr>
            <a:r>
              <a:t>• Element Plus 2.14.x</a:t>
            </a:r>
          </a:p>
          <a:p>
            <a:pPr>
              <a:defRPr sz="1000">
                <a:solidFill>
                  <a:srgbClr val="1A202C"/>
                </a:solidFill>
              </a:defRPr>
            </a:pPr>
            <a:r>
              <a:t>• TypeScript 6.0.x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92608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300" b="1">
                <a:solidFill>
                  <a:srgbClr val="1A202C"/>
                </a:solidFill>
              </a:defRPr>
            </a:pPr>
            <a:r>
              <a:t>后端技术栈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38328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A202C"/>
                </a:solidFill>
              </a:defRPr>
            </a:pPr>
            <a:r>
              <a:t>• Spring Boot 3.4.x</a:t>
            </a:r>
          </a:p>
          <a:p>
            <a:pPr>
              <a:defRPr sz="1000">
                <a:solidFill>
                  <a:srgbClr val="1A202C"/>
                </a:solidFill>
              </a:defRPr>
            </a:pPr>
            <a:r>
              <a:t>• MyBatis Plus 3.5.x</a:t>
            </a:r>
          </a:p>
          <a:p>
            <a:pPr>
              <a:defRPr sz="1000">
                <a:solidFill>
                  <a:srgbClr val="1A202C"/>
                </a:solidFill>
              </a:defRPr>
            </a:pPr>
            <a:r>
              <a:t>• MySQL 8.0</a:t>
            </a:r>
          </a:p>
          <a:p>
            <a:pPr>
              <a:defRPr sz="1000">
                <a:solidFill>
                  <a:srgbClr val="1A202C"/>
                </a:solidFill>
              </a:defRPr>
            </a:pPr>
            <a:r>
              <a:t>• Redis 7.0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420624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300" b="1">
                <a:solidFill>
                  <a:srgbClr val="1A202C"/>
                </a:solidFill>
              </a:defRPr>
            </a:pPr>
            <a:r>
              <a:t>部署架构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66344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A202C"/>
                </a:solidFill>
              </a:defRPr>
            </a:pPr>
            <a:r>
              <a:t>• Docker 24.x</a:t>
            </a:r>
          </a:p>
          <a:p>
            <a:pPr>
              <a:defRPr sz="1000">
                <a:solidFill>
                  <a:srgbClr val="1A202C"/>
                </a:solidFill>
              </a:defRPr>
            </a:pPr>
            <a:r>
              <a:t>• Docker Compose 2.x</a:t>
            </a:r>
          </a:p>
          <a:p>
            <a:pPr>
              <a:defRPr sz="1000">
                <a:solidFill>
                  <a:srgbClr val="1A202C"/>
                </a:solidFill>
              </a:defRPr>
            </a:pPr>
            <a:r>
              <a:t>• Nginx 1.25.x</a:t>
            </a:r>
          </a:p>
          <a:p>
            <a:pPr>
              <a:defRPr sz="1000">
                <a:solidFill>
                  <a:srgbClr val="1A202C"/>
                </a:solidFill>
              </a:defRPr>
            </a:pPr>
            <a:r>
              <a:t>• TRTC 5.18.x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1A202C"/>
                </a:solidFill>
              </a:defRPr>
            </a:pPr>
            <a:r>
              <a:t>09 / 12  技术创新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4114800" cy="2011680"/>
          </a:xfrm>
          <a:prstGeom prst="rect">
            <a:avLst/>
          </a:prstGeom>
          <a:solidFill>
            <a:srgbClr val="22C55E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468880" y="1645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AI驱动学习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>
                <a:solidFill>
                  <a:srgbClr val="FFFFFF"/>
                </a:solidFill>
              </a:defRPr>
            </a:pPr>
            <a:r>
              <a:t>深度整合大语言模型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1371600"/>
            <a:ext cx="4114800" cy="2011680"/>
          </a:xfrm>
          <a:prstGeom prst="rect">
            <a:avLst/>
          </a:prstGeom>
          <a:solidFill>
            <a:srgbClr val="FEF08A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645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2860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300" b="1">
                <a:solidFill>
                  <a:srgbClr val="1A202C"/>
                </a:solidFill>
              </a:defRPr>
            </a:pPr>
            <a:r>
              <a:t>学分银行体系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7432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>
                <a:solidFill>
                  <a:srgbClr val="1A202C"/>
                </a:solidFill>
              </a:defRPr>
            </a:pPr>
            <a:r>
              <a:t>学习成果量化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0" y="1371600"/>
            <a:ext cx="4114800" cy="2011680"/>
          </a:xfrm>
          <a:prstGeom prst="rect">
            <a:avLst/>
          </a:prstGeom>
          <a:solidFill>
            <a:srgbClr val="BEE3F8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0" y="1645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22860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300" b="1">
                <a:solidFill>
                  <a:srgbClr val="1A202C"/>
                </a:solidFill>
              </a:defRPr>
            </a:pPr>
            <a:r>
              <a:t>实时视频面试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27432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>
                <a:solidFill>
                  <a:srgbClr val="1A202C"/>
                </a:solidFill>
              </a:defRPr>
            </a:pPr>
            <a:r>
              <a:t>整合TRTC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657600"/>
            <a:ext cx="4114800" cy="2011680"/>
          </a:xfrm>
          <a:prstGeom prst="rect">
            <a:avLst/>
          </a:prstGeom>
          <a:solidFill>
            <a:srgbClr val="FECDD3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3931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5720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300" b="1">
                <a:solidFill>
                  <a:srgbClr val="1A202C"/>
                </a:solidFill>
              </a:defRPr>
            </a:pPr>
            <a:r>
              <a:t>Neo-brutal风格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>
                <a:solidFill>
                  <a:srgbClr val="1A202C"/>
                </a:solidFill>
              </a:defRPr>
            </a:pPr>
            <a:r>
              <a:t>独特视觉风格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3657600"/>
            <a:ext cx="4114800" cy="2011680"/>
          </a:xfrm>
          <a:prstGeom prst="rect">
            <a:avLst/>
          </a:prstGeom>
          <a:solidFill>
            <a:srgbClr val="DDD6FE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3931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5720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300" b="1">
                <a:solidFill>
                  <a:srgbClr val="1A202C"/>
                </a:solidFill>
              </a:defRPr>
            </a:pPr>
            <a:r>
              <a:t>前后端分离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0292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>
                <a:solidFill>
                  <a:srgbClr val="1A202C"/>
                </a:solidFill>
              </a:defRPr>
            </a:pPr>
            <a:r>
              <a:t>Vue3+Spring Boot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5大创新点，打造差异化竞争力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1A202C"/>
                </a:solidFill>
              </a:defRPr>
            </a:pPr>
            <a:r>
              <a:t>10 / 12  流程演示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4114800" cy="3657600"/>
          </a:xfrm>
          <a:prstGeom prst="rect">
            <a:avLst/>
          </a:prstGeom>
          <a:solidFill>
            <a:srgbClr val="BEE3F8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468880" y="1645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1A202C"/>
                </a:solidFill>
              </a:defRPr>
            </a:pPr>
            <a:r>
              <a:t>面试流程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8346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1A202C"/>
                </a:solidFill>
              </a:defRPr>
            </a:pPr>
            <a:r>
              <a:t>01. 浏览职位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3375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1A202C"/>
                </a:solidFill>
              </a:defRPr>
            </a:pPr>
            <a:r>
              <a:t>02. 投递简历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8404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1A202C"/>
                </a:solidFill>
              </a:defRPr>
            </a:pPr>
            <a:r>
              <a:t>03. 面试邀请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343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1A202C"/>
                </a:solidFill>
              </a:defRPr>
            </a:pPr>
            <a:r>
              <a:t>04. 在线面试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46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1A202C"/>
                </a:solidFill>
              </a:defRPr>
            </a:pPr>
            <a:r>
              <a:t>05. 面试结果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371600"/>
            <a:ext cx="4114800" cy="3657600"/>
          </a:xfrm>
          <a:prstGeom prst="rect">
            <a:avLst/>
          </a:prstGeom>
          <a:solidFill>
            <a:srgbClr val="FECDD3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645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2860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1A202C"/>
                </a:solidFill>
              </a:defRPr>
            </a:pPr>
            <a:r>
              <a:t>活动流程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8346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1A202C"/>
                </a:solidFill>
              </a:defRPr>
            </a:pPr>
            <a:r>
              <a:t>01. 发布活动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3375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1A202C"/>
                </a:solidFill>
              </a:defRPr>
            </a:pPr>
            <a:r>
              <a:t>02. 邀请学员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8404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1A202C"/>
                </a:solidFill>
              </a:defRPr>
            </a:pPr>
            <a:r>
              <a:t>03. 报名参加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4343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1A202C"/>
                </a:solidFill>
              </a:defRPr>
            </a:pPr>
            <a:r>
              <a:t>04. 活动签到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846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1A202C"/>
                </a:solidFill>
              </a:defRPr>
            </a:pPr>
            <a:r>
              <a:t>05. 获取学分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0" y="1371600"/>
            <a:ext cx="4114800" cy="3657600"/>
          </a:xfrm>
          <a:prstGeom prst="rect">
            <a:avLst/>
          </a:prstGeom>
          <a:solidFill>
            <a:srgbClr val="22C55E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612880" y="1645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22860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学习流程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28346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FFFFFF"/>
                </a:solidFill>
              </a:defRPr>
            </a:pPr>
            <a:r>
              <a:t>01. 选择课程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33375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FFFFFF"/>
                </a:solidFill>
              </a:defRPr>
            </a:pPr>
            <a:r>
              <a:t>02. 开始学习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38404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FFFFFF"/>
                </a:solidFill>
              </a:defRPr>
            </a:pPr>
            <a:r>
              <a:t>03. 互动交流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4343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FFFFFF"/>
                </a:solidFill>
              </a:defRPr>
            </a:pPr>
            <a:r>
              <a:t>04. 完成课程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4846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FFFFFF"/>
                </a:solidFill>
              </a:defRPr>
            </a:pPr>
            <a:r>
              <a:t>05. 积累学分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4864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三大核心流程，连接学员、课程与企业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1A202C"/>
                </a:solidFill>
              </a:defRPr>
            </a:pPr>
            <a:r>
              <a:t>11 / 12  组织管理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3200400" cy="1828800"/>
          </a:xfrm>
          <a:prstGeom prst="rect">
            <a:avLst/>
          </a:prstGeom>
          <a:solidFill>
            <a:srgbClr val="BEE3F8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5544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👨‍💻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554480"/>
            <a:ext cx="1554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1A202C"/>
                </a:solidFill>
              </a:defRPr>
            </a:pPr>
            <a:r>
              <a:t>[姓名]</a:t>
            </a:r>
          </a:p>
          <a:p>
            <a:pPr>
              <a:defRPr sz="1000">
                <a:solidFill>
                  <a:srgbClr val="1A202C"/>
                </a:solidFill>
              </a:defRPr>
            </a:pPr>
            <a:r>
              <a:t>[角色]</a:t>
            </a:r>
          </a:p>
          <a:p>
            <a:pPr>
              <a:defRPr sz="800">
                <a:solidFill>
                  <a:srgbClr val="1A202C"/>
                </a:solidFill>
              </a:defRPr>
            </a:pPr>
            <a:r>
              <a:t>[职责描述]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71600"/>
            <a:ext cx="3200400" cy="1828800"/>
          </a:xfrm>
          <a:prstGeom prst="rect">
            <a:avLst/>
          </a:prstGeom>
          <a:solidFill>
            <a:srgbClr val="FECDD3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5544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👩‍💻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554480"/>
            <a:ext cx="1554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1A202C"/>
                </a:solidFill>
              </a:defRPr>
            </a:pPr>
            <a:r>
              <a:t>[姓名]</a:t>
            </a:r>
          </a:p>
          <a:p>
            <a:pPr>
              <a:defRPr sz="1000">
                <a:solidFill>
                  <a:srgbClr val="1A202C"/>
                </a:solidFill>
              </a:defRPr>
            </a:pPr>
            <a:r>
              <a:t>[角色]</a:t>
            </a:r>
          </a:p>
          <a:p>
            <a:pPr>
              <a:defRPr sz="800">
                <a:solidFill>
                  <a:srgbClr val="1A202C"/>
                </a:solidFill>
              </a:defRPr>
            </a:pPr>
            <a:r>
              <a:t>[职责描述]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371600"/>
            <a:ext cx="3200400" cy="1828800"/>
          </a:xfrm>
          <a:prstGeom prst="rect">
            <a:avLst/>
          </a:prstGeom>
          <a:solidFill>
            <a:srgbClr val="FEF08A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5544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👨‍🎨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554480"/>
            <a:ext cx="1554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1A202C"/>
                </a:solidFill>
              </a:defRPr>
            </a:pPr>
            <a:r>
              <a:t>[姓名]</a:t>
            </a:r>
          </a:p>
          <a:p>
            <a:pPr>
              <a:defRPr sz="1000">
                <a:solidFill>
                  <a:srgbClr val="1A202C"/>
                </a:solidFill>
              </a:defRPr>
            </a:pPr>
            <a:r>
              <a:t>[角色]</a:t>
            </a:r>
          </a:p>
          <a:p>
            <a:pPr>
              <a:defRPr sz="800">
                <a:solidFill>
                  <a:srgbClr val="1A202C"/>
                </a:solidFill>
              </a:defRPr>
            </a:pPr>
            <a:r>
              <a:t>[职责描述]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38559" y="1371600"/>
            <a:ext cx="3200400" cy="1828800"/>
          </a:xfrm>
          <a:prstGeom prst="rect">
            <a:avLst/>
          </a:prstGeom>
          <a:solidFill>
            <a:srgbClr val="DDD6FE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79" y="15544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👩‍🎨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10159" y="1554480"/>
            <a:ext cx="1554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1A202C"/>
                </a:solidFill>
              </a:defRPr>
            </a:pPr>
            <a:r>
              <a:t>[姓名]</a:t>
            </a:r>
          </a:p>
          <a:p>
            <a:pPr>
              <a:defRPr sz="1000">
                <a:solidFill>
                  <a:srgbClr val="1A202C"/>
                </a:solidFill>
              </a:defRPr>
            </a:pPr>
            <a:r>
              <a:t>[角色]</a:t>
            </a:r>
          </a:p>
          <a:p>
            <a:pPr>
              <a:defRPr sz="800">
                <a:solidFill>
                  <a:srgbClr val="1A202C"/>
                </a:solidFill>
              </a:defRPr>
            </a:pPr>
            <a:r>
              <a:t>[职责描述]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657600"/>
            <a:ext cx="12801600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74903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1A202C"/>
                </a:solidFill>
              </a:defRPr>
            </a:pPr>
            <a:r>
              <a:t>团队协作流程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22C55E"/>
                </a:solidFill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2062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1A202C"/>
                </a:solidFill>
              </a:defRPr>
            </a:pPr>
            <a:r>
              <a:t>需求分析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5720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A202C"/>
                </a:solidFill>
              </a:defRPr>
            </a:pPr>
            <a:r>
              <a:t>收集用户需求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206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22C55E"/>
                </a:solidFill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2062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1A202C"/>
                </a:solidFill>
              </a:defRPr>
            </a:pPr>
            <a:r>
              <a:t>系统设计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5720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A202C"/>
                </a:solidFill>
              </a:defRPr>
            </a:pPr>
            <a:r>
              <a:t>架构与数据库设计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206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22C55E"/>
                </a:solidFill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2062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1A202C"/>
                </a:solidFill>
              </a:defRPr>
            </a:pPr>
            <a:r>
              <a:t>开发实现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5720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A202C"/>
                </a:solidFill>
              </a:defRPr>
            </a:pPr>
            <a:r>
              <a:t>前后端并行开发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4206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22C55E"/>
                </a:solidFill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42062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1A202C"/>
                </a:solidFill>
              </a:defRPr>
            </a:pPr>
            <a:r>
              <a:t>部署上线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45720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A202C"/>
                </a:solidFill>
              </a:defRPr>
            </a:pPr>
            <a:r>
              <a:t>Docker容器化部署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C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</a:defRPr>
            </a:pPr>
            <a:r>
              <a:t>12 / 12  项目小结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5943600" cy="3200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554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1A202C"/>
                </a:solidFill>
              </a:defRPr>
            </a:pPr>
            <a:r>
              <a:t>项目成果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5486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A202C"/>
                </a:solidFill>
              </a:defRPr>
            </a:pPr>
            <a:r>
              <a:t>[OK] 完整的学习平台（课程学习、学分银行、社区论坛）</a:t>
            </a:r>
          </a:p>
          <a:p>
            <a:pPr>
              <a:defRPr sz="1000">
                <a:solidFill>
                  <a:srgbClr val="1A202C"/>
                </a:solidFill>
              </a:defRPr>
            </a:pPr>
            <a:r>
              <a:t>[OK] AI智能助手（个性化学习推荐和智能答疑）</a:t>
            </a:r>
          </a:p>
          <a:p>
            <a:pPr>
              <a:defRPr sz="1000">
                <a:solidFill>
                  <a:srgbClr val="1A202C"/>
                </a:solidFill>
              </a:defRPr>
            </a:pPr>
            <a:r>
              <a:t>[OK] 企业对接功能（企业入驻、职位发布、在线面试）</a:t>
            </a:r>
          </a:p>
          <a:p>
            <a:pPr>
              <a:defRPr sz="1000">
                <a:solidFill>
                  <a:srgbClr val="1A202C"/>
                </a:solidFill>
              </a:defRPr>
            </a:pPr>
            <a:r>
              <a:t>[OK] Neo-brutal设计（独特视觉风格，提升品牌识别度）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371600"/>
            <a:ext cx="5943600" cy="3200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554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1A202C"/>
                </a:solidFill>
              </a:defRPr>
            </a:pPr>
            <a:r>
              <a:t>未来展望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103120"/>
            <a:ext cx="5486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A202C"/>
                </a:solidFill>
              </a:defRPr>
            </a:pPr>
            <a:r>
              <a:t>[IDEA] 深化AI应用（AI课程生成、智能评估）</a:t>
            </a:r>
          </a:p>
          <a:p>
            <a:pPr>
              <a:defRPr sz="1000">
                <a:solidFill>
                  <a:srgbClr val="1A202C"/>
                </a:solidFill>
              </a:defRPr>
            </a:pPr>
            <a:r>
              <a:t>[IDEA] 扩展社交功能（学习小组、好友互动）</a:t>
            </a:r>
          </a:p>
          <a:p>
            <a:pPr>
              <a:defRPr sz="1000">
                <a:solidFill>
                  <a:srgbClr val="1A202C"/>
                </a:solidFill>
              </a:defRPr>
            </a:pPr>
            <a:r>
              <a:t>[IDEA] 移动端适配（小程序和APP）</a:t>
            </a:r>
          </a:p>
          <a:p>
            <a:pPr>
              <a:defRPr sz="1000">
                <a:solidFill>
                  <a:srgbClr val="1A202C"/>
                </a:solidFill>
              </a:defRPr>
            </a:pPr>
            <a:r>
              <a:t>[IDEA] 数据分析平台（可视化报表和洞察）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029200"/>
            <a:ext cx="32004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1206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22C55E"/>
                </a:solidFill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2120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1A202C"/>
                </a:solidFill>
              </a:defRPr>
            </a:pPr>
            <a:r>
              <a:t>核心模块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5029200"/>
            <a:ext cx="32004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51206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22C55E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2120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1A202C"/>
                </a:solidFill>
              </a:defRPr>
            </a:pPr>
            <a:r>
              <a:t>技术创新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5029200"/>
            <a:ext cx="32004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51206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22C55E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52120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1A202C"/>
                </a:solidFill>
              </a:defRPr>
            </a:pPr>
            <a:r>
              <a:t>核心流程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338559" y="5029200"/>
            <a:ext cx="32004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12879" y="51206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22C55E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5839" y="52120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1A202C"/>
                </a:solidFill>
              </a:defRPr>
            </a:pPr>
            <a:r>
              <a:t>团队成员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00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感谢聆听！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