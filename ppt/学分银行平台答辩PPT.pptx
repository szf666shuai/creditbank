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22C55E"/>
                </a:solidFill>
              </a:defRPr>
            </a:pPr>
            <a:r>
              <a:t>01 / 12</a:t>
            </a:r>
          </a:p>
          <a:p>
            <a:pPr>
              <a:defRPr sz="3600" b="1">
                <a:solidFill>
                  <a:srgbClr val="1A202C"/>
                </a:solidFill>
              </a:defRPr>
            </a:pPr>
            <a:r>
              <a:t>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5600" b="1">
                <a:solidFill>
                  <a:srgbClr val="22C55E"/>
                </a:solidFill>
              </a:defRPr>
            </a:pPr>
            <a:r>
              <a:t>学分银行平台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1A202C"/>
                </a:solidFill>
              </a:defRPr>
            </a:pPr>
            <a:r>
              <a:t>终身学习 · 成就未来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943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学习的健身房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solidFill>
            <a:srgbClr val="22C55E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0" y="5486400"/>
            <a:ext cx="1828800" cy="1828800"/>
          </a:xfrm>
          <a:prstGeom prst="rect">
            <a:avLst/>
          </a:prstGeom>
          <a:solidFill>
            <a:srgbClr val="BEE3F8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22C55E"/>
                </a:solidFill>
              </a:defRPr>
            </a:pPr>
            <a:r>
              <a:t>02 / 12</a:t>
            </a:r>
          </a:p>
          <a:p>
            <a:pPr>
              <a:defRPr sz="3600" b="1">
                <a:solidFill>
                  <a:srgbClr val="1A202C"/>
                </a:solidFill>
              </a:defRPr>
            </a:pPr>
            <a:r>
              <a:t>答辩大纲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22C55E"/>
                </a:solidFill>
              </a:defRPr>
            </a:pPr>
            <a:r>
              <a:t>03 / 12</a:t>
            </a:r>
          </a:p>
          <a:p>
            <a:pPr>
              <a:defRPr sz="3600" b="1">
                <a:solidFill>
                  <a:srgbClr val="1A202C"/>
                </a:solidFill>
              </a:defRPr>
            </a:pPr>
            <a:r>
              <a:t>品牌故事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029200"/>
            <a:ext cx="11887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22C55E"/>
                </a:solidFill>
              </a:defRPr>
            </a:pPr>
            <a:r>
              <a:t>学分银行平台 - 连接学习与就业，打造终身学习生态圈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22C55E"/>
                </a:solidFill>
              </a:defRPr>
            </a:pPr>
            <a:r>
              <a:t>04 / 12</a:t>
            </a:r>
          </a:p>
          <a:p>
            <a:pPr>
              <a:defRPr sz="3600" b="1">
                <a:solidFill>
                  <a:srgbClr val="1A202C"/>
                </a:solidFill>
              </a:defRPr>
            </a:pPr>
            <a:r>
              <a:t>产品定位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6400800" cy="3200400"/>
          </a:xfrm>
          <a:prstGeom prst="rect">
            <a:avLst/>
          </a:prstGeom>
          <a:solidFill>
            <a:srgbClr val="22C55E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22860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/>
            </a:pPr>
            <a:r>
              <a:t>🏋️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学习的健身房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828800"/>
            <a:ext cx="6400800" cy="3200400"/>
          </a:xfrm>
          <a:prstGeom prst="rect">
            <a:avLst/>
          </a:prstGeom>
          <a:solidFill>
            <a:srgbClr val="BEE3F8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22860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/>
            </a:pPr>
            <a:r>
              <a:t>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3291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1A202C"/>
                </a:solidFill>
              </a:defRPr>
            </a:pPr>
            <a:r>
              <a:t>知识的图书馆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9436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>
                <a:solidFill>
                  <a:srgbClr val="1A202C"/>
                </a:solidFill>
              </a:defRPr>
            </a:pPr>
            <a:r>
              <a:t>为什么在家能学习还要去图书馆？为什么在家能锻炼还要去健身房？因为氛围与心理暗示无可替代。我们的平台就是学习领域的健身房与图书馆。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22C55E"/>
                </a:solidFill>
              </a:defRPr>
            </a:pPr>
            <a:r>
              <a:t>05 / 12</a:t>
            </a:r>
          </a:p>
          <a:p>
            <a:pPr>
              <a:defRPr sz="3600" b="1">
                <a:solidFill>
                  <a:srgbClr val="1A202C"/>
                </a:solidFill>
              </a:defRPr>
            </a:pPr>
            <a:r>
              <a:t>色彩心理学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3200400" cy="1828800"/>
          </a:xfrm>
          <a:prstGeom prst="rect">
            <a:avLst/>
          </a:prstGeom>
          <a:solidFill>
            <a:srgbClr val="22C55E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FFFF"/>
                </a:solidFill>
              </a:defRPr>
            </a:pPr>
            <a:r>
              <a:t>绿色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56032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FFFFFF"/>
                </a:solidFill>
              </a:defRPr>
            </a:pPr>
            <a:r>
              <a:t>成长、希望、活力、教育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828800"/>
            <a:ext cx="3200400" cy="1828800"/>
          </a:xfrm>
          <a:prstGeom prst="rect">
            <a:avLst/>
          </a:prstGeom>
          <a:solidFill>
            <a:srgbClr val="FFF9F0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210312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1A202C"/>
                </a:solidFill>
              </a:defRPr>
            </a:pPr>
            <a:r>
              <a:t>奶油色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56032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A202C"/>
                </a:solidFill>
              </a:defRPr>
            </a:pPr>
            <a:r>
              <a:t>温暖、舒适、包容、亲和力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1828800"/>
            <a:ext cx="3200400" cy="1828800"/>
          </a:xfrm>
          <a:prstGeom prst="rect">
            <a:avLst/>
          </a:prstGeom>
          <a:solidFill>
            <a:srgbClr val="BEE3F8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210312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1A202C"/>
                </a:solidFill>
              </a:defRPr>
            </a:pPr>
            <a:r>
              <a:t>蓝色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56032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A202C"/>
                </a:solidFill>
              </a:defRPr>
            </a:pPr>
            <a:r>
              <a:t>专业、信任、科技感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710160" y="1828800"/>
            <a:ext cx="3200400" cy="1828800"/>
          </a:xfrm>
          <a:prstGeom prst="rect">
            <a:avLst/>
          </a:prstGeom>
          <a:solidFill>
            <a:srgbClr val="FEF08A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84480" y="210312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1A202C"/>
                </a:solidFill>
              </a:defRPr>
            </a:pPr>
            <a:r>
              <a:t>黄色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0" y="256032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A202C"/>
                </a:solidFill>
              </a:defRPr>
            </a:pPr>
            <a:r>
              <a:t>活力、创意、注意力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572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1A202C"/>
                </a:solidFill>
              </a:defRPr>
            </a:pPr>
            <a:r>
              <a:t>Neo-brutal设计风格：粗边框、硬阴影、大胆配色，打造独特的视觉识别度，吸引各年龄段用户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22C55E"/>
                </a:solidFill>
              </a:defRPr>
            </a:pPr>
            <a:r>
              <a:t>06 / 12</a:t>
            </a:r>
          </a:p>
          <a:p>
            <a:pPr>
              <a:defRPr sz="3600" b="1">
                <a:solidFill>
                  <a:srgbClr val="1A202C"/>
                </a:solidFill>
              </a:defRPr>
            </a:pPr>
            <a:r>
              <a:t>核心功能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377440" cy="2743200"/>
          </a:xfrm>
          <a:prstGeom prst="rect">
            <a:avLst/>
          </a:prstGeom>
          <a:solidFill>
            <a:srgbClr val="22C55E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9202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学习管理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1645920"/>
            <a:ext cx="2377440" cy="2743200"/>
          </a:xfrm>
          <a:prstGeom prst="rect">
            <a:avLst/>
          </a:prstGeom>
          <a:solidFill>
            <a:srgbClr val="BEE3F8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9202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27432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300" b="1">
                <a:solidFill>
                  <a:srgbClr val="1A202C"/>
                </a:solidFill>
              </a:defRPr>
            </a:pPr>
            <a:r>
              <a:t>企业对接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2377440" cy="2743200"/>
          </a:xfrm>
          <a:prstGeom prst="rect">
            <a:avLst/>
          </a:prstGeom>
          <a:solidFill>
            <a:srgbClr val="FECDD3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9202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300" b="1">
                <a:solidFill>
                  <a:srgbClr val="1A202C"/>
                </a:solidFill>
              </a:defRPr>
            </a:pPr>
            <a:r>
              <a:t>学分银行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2377440" cy="2743200"/>
          </a:xfrm>
          <a:prstGeom prst="rect">
            <a:avLst/>
          </a:prstGeom>
          <a:solidFill>
            <a:srgbClr val="FEF08A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51206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300" b="1">
                <a:solidFill>
                  <a:srgbClr val="1A202C"/>
                </a:solidFill>
              </a:defRPr>
            </a:pPr>
            <a:r>
              <a:t>社区论坛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4846320"/>
            <a:ext cx="2377440" cy="2743200"/>
          </a:xfrm>
          <a:prstGeom prst="rect">
            <a:avLst/>
          </a:prstGeom>
          <a:solidFill>
            <a:srgbClr val="DDD6FE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51206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59436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300" b="1">
                <a:solidFill>
                  <a:srgbClr val="1A202C"/>
                </a:solidFill>
              </a:defRPr>
            </a:pPr>
            <a:r>
              <a:t>诚信体系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22C55E"/>
                </a:solidFill>
              </a:defRPr>
            </a:pPr>
            <a:r>
              <a:t>07 / 12</a:t>
            </a:r>
          </a:p>
          <a:p>
            <a:pPr>
              <a:defRPr sz="3600" b="1">
                <a:solidFill>
                  <a:srgbClr val="1A202C"/>
                </a:solidFill>
              </a:defRPr>
            </a:pPr>
            <a:r>
              <a:t>AI智能助手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7315200" cy="3200400"/>
          </a:xfrm>
          <a:prstGeom prst="rect">
            <a:avLst/>
          </a:prstGeom>
          <a:solidFill>
            <a:srgbClr val="22C55E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0" y="22860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/>
            </a:pPr>
            <a:r>
              <a:t>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学习伙伴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>
                <a:solidFill>
                  <a:srgbClr val="FFFFFF"/>
                </a:solidFill>
              </a:defRPr>
            </a:pPr>
            <a:r>
              <a:t>24小时陪伴式学习助手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1828800"/>
            <a:ext cx="731520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2103120"/>
            <a:ext cx="67665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 b="1">
                <a:solidFill>
                  <a:srgbClr val="22C55E"/>
                </a:solidFill>
              </a:defRPr>
            </a:pPr>
            <a:r>
              <a:t>AI: 你好！我是你的学习助手，请问有什么可以帮你的？</a:t>
            </a:r>
          </a:p>
          <a:p>
            <a:pPr>
              <a:defRPr sz="1000" b="1">
                <a:solidFill>
                  <a:srgbClr val="BEE3F8"/>
                </a:solidFill>
              </a:defRPr>
            </a:pPr>
            <a:r>
              <a:t>User: 我想学习Python，有什么推荐的课程吗？</a:t>
            </a:r>
          </a:p>
          <a:p>
            <a:pPr>
              <a:defRPr sz="1000" b="1">
                <a:solidFill>
                  <a:srgbClr val="22C55E"/>
                </a:solidFill>
              </a:defRPr>
            </a:pPr>
            <a:r>
              <a:t>AI: 根据你的学习目标，我推荐Python基础入门、数据分析实战等课程。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486400"/>
            <a:ext cx="164592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557784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100">
                <a:solidFill>
                  <a:srgbClr val="1A202C"/>
                </a:solidFill>
              </a:defRPr>
            </a:pPr>
            <a:r>
              <a:t>智能课程推荐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5486400"/>
            <a:ext cx="164592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557784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100">
                <a:solidFill>
                  <a:srgbClr val="1A202C"/>
                </a:solidFill>
              </a:defRPr>
            </a:pPr>
            <a:r>
              <a:t>实时答疑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5486400"/>
            <a:ext cx="164592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557784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100">
                <a:solidFill>
                  <a:srgbClr val="1A202C"/>
                </a:solidFill>
              </a:defRPr>
            </a:pPr>
            <a:r>
              <a:t>简历生成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5486400"/>
            <a:ext cx="164592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557784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100">
                <a:solidFill>
                  <a:srgbClr val="1A202C"/>
                </a:solidFill>
              </a:defRPr>
            </a:pPr>
            <a:r>
              <a:t>学习规划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22C55E"/>
                </a:solidFill>
              </a:defRPr>
            </a:pPr>
            <a:r>
              <a:t>08 / 12</a:t>
            </a:r>
          </a:p>
          <a:p>
            <a:pPr>
              <a:defRPr sz="3600" b="1">
                <a:solidFill>
                  <a:srgbClr val="1A202C"/>
                </a:solidFill>
              </a:defRPr>
            </a:pPr>
            <a:r>
              <a:t>技术架构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6400800" cy="2286000"/>
          </a:xfrm>
          <a:prstGeom prst="rect">
            <a:avLst/>
          </a:prstGeom>
          <a:solidFill>
            <a:srgbClr val="FECDD3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1A202C"/>
                </a:solidFill>
              </a:defRPr>
            </a:pPr>
            <a:r>
              <a:t>前端层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5852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1A202C"/>
                </a:solidFill>
              </a:defRPr>
            </a:pPr>
            <a:r>
              <a:t>• Vue 3</a:t>
            </a:r>
          </a:p>
          <a:p>
            <a:pPr>
              <a:defRPr sz="1200">
                <a:solidFill>
                  <a:srgbClr val="1A202C"/>
                </a:solidFill>
              </a:defRPr>
            </a:pPr>
            <a:r>
              <a:t>• Element Plus</a:t>
            </a:r>
          </a:p>
          <a:p>
            <a:pPr>
              <a:defRPr sz="1200">
                <a:solidFill>
                  <a:srgbClr val="1A202C"/>
                </a:solidFill>
              </a:defRPr>
            </a:pPr>
            <a:r>
              <a:t>• Vite</a:t>
            </a:r>
          </a:p>
          <a:p>
            <a:pPr>
              <a:defRPr sz="1200">
                <a:solidFill>
                  <a:srgbClr val="1A202C"/>
                </a:solidFill>
              </a:defRPr>
            </a:pPr>
            <a:r>
              <a:t>• Pinia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06240"/>
            <a:ext cx="6400800" cy="2286000"/>
          </a:xfrm>
          <a:prstGeom prst="rect">
            <a:avLst/>
          </a:prstGeom>
          <a:solidFill>
            <a:srgbClr val="22C55E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3891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1A202C"/>
                </a:solidFill>
              </a:defRPr>
            </a:pPr>
            <a:r>
              <a:t>后端层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846320"/>
            <a:ext cx="5852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1A202C"/>
                </a:solidFill>
              </a:defRPr>
            </a:pPr>
            <a:r>
              <a:t>• Spring Boot</a:t>
            </a:r>
          </a:p>
          <a:p>
            <a:pPr>
              <a:defRPr sz="1200">
                <a:solidFill>
                  <a:srgbClr val="1A202C"/>
                </a:solidFill>
              </a:defRPr>
            </a:pPr>
            <a:r>
              <a:t>• MyBatis Plus</a:t>
            </a:r>
          </a:p>
          <a:p>
            <a:pPr>
              <a:defRPr sz="1200">
                <a:solidFill>
                  <a:srgbClr val="1A202C"/>
                </a:solidFill>
              </a:defRPr>
            </a:pPr>
            <a:r>
              <a:t>• JWT</a:t>
            </a:r>
          </a:p>
          <a:p>
            <a:pPr>
              <a:defRPr sz="1200">
                <a:solidFill>
                  <a:srgbClr val="1A202C"/>
                </a:solidFill>
              </a:defRPr>
            </a:pPr>
            <a:r>
              <a:t>• WebSocket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6766560"/>
            <a:ext cx="6400800" cy="2286000"/>
          </a:xfrm>
          <a:prstGeom prst="rect">
            <a:avLst/>
          </a:prstGeom>
          <a:solidFill>
            <a:srgbClr val="FEF08A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6949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1A202C"/>
                </a:solidFill>
              </a:defRPr>
            </a:pPr>
            <a:r>
              <a:t>数据层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7406640"/>
            <a:ext cx="5852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1A202C"/>
                </a:solidFill>
              </a:defRPr>
            </a:pPr>
            <a:r>
              <a:t>• MySQL 8.0</a:t>
            </a:r>
          </a:p>
          <a:p>
            <a:pPr>
              <a:defRPr sz="1200">
                <a:solidFill>
                  <a:srgbClr val="1A202C"/>
                </a:solidFill>
              </a:defRPr>
            </a:pPr>
            <a:r>
              <a:t>• Redis 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645920"/>
            <a:ext cx="6400800" cy="7406640"/>
          </a:xfrm>
          <a:prstGeom prst="rect">
            <a:avLst/>
          </a:prstGeom>
          <a:solidFill>
            <a:srgbClr val="BEE3F8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92024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1A202C"/>
                </a:solidFill>
              </a:defRPr>
            </a:pPr>
            <a:r>
              <a:t>前端技术栈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377440"/>
            <a:ext cx="5852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1A202C"/>
                </a:solidFill>
              </a:defRPr>
            </a:pPr>
            <a:r>
              <a:t>• Vue 3.5.x</a:t>
            </a:r>
          </a:p>
          <a:p>
            <a:pPr>
              <a:defRPr sz="1100">
                <a:solidFill>
                  <a:srgbClr val="1A202C"/>
                </a:solidFill>
              </a:defRPr>
            </a:pPr>
            <a:r>
              <a:t>• Vite 8.1.x</a:t>
            </a:r>
          </a:p>
          <a:p>
            <a:pPr>
              <a:defRPr sz="1100">
                <a:solidFill>
                  <a:srgbClr val="1A202C"/>
                </a:solidFill>
              </a:defRPr>
            </a:pPr>
            <a:r>
              <a:t>• Element Plus 2.14.x</a:t>
            </a:r>
          </a:p>
          <a:p>
            <a:pPr>
              <a:defRPr sz="1100">
                <a:solidFill>
                  <a:srgbClr val="1A202C"/>
                </a:solidFill>
              </a:defRPr>
            </a:pPr>
            <a:r>
              <a:t>• TypeScript 6.0.x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56616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1A202C"/>
                </a:solidFill>
              </a:defRPr>
            </a:pPr>
            <a:r>
              <a:t>后端技术栈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023360"/>
            <a:ext cx="5852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1A202C"/>
                </a:solidFill>
              </a:defRPr>
            </a:pPr>
            <a:r>
              <a:t>• Spring Boot 3.4.x</a:t>
            </a:r>
          </a:p>
          <a:p>
            <a:pPr>
              <a:defRPr sz="1100">
                <a:solidFill>
                  <a:srgbClr val="1A202C"/>
                </a:solidFill>
              </a:defRPr>
            </a:pPr>
            <a:r>
              <a:t>• MyBatis Plus 3.5.x</a:t>
            </a:r>
          </a:p>
          <a:p>
            <a:pPr>
              <a:defRPr sz="1100">
                <a:solidFill>
                  <a:srgbClr val="1A202C"/>
                </a:solidFill>
              </a:defRPr>
            </a:pPr>
            <a:r>
              <a:t>• MySQL 8.0</a:t>
            </a:r>
          </a:p>
          <a:p>
            <a:pPr>
              <a:defRPr sz="1100">
                <a:solidFill>
                  <a:srgbClr val="1A202C"/>
                </a:solidFill>
              </a:defRPr>
            </a:pPr>
            <a:r>
              <a:t>• Redis 7.0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521208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1A202C"/>
                </a:solidFill>
              </a:defRPr>
            </a:pPr>
            <a:r>
              <a:t>部署架构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669280"/>
            <a:ext cx="5852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1A202C"/>
                </a:solidFill>
              </a:defRPr>
            </a:pPr>
            <a:r>
              <a:t>• Docker 24.x</a:t>
            </a:r>
          </a:p>
          <a:p>
            <a:pPr>
              <a:defRPr sz="1100">
                <a:solidFill>
                  <a:srgbClr val="1A202C"/>
                </a:solidFill>
              </a:defRPr>
            </a:pPr>
            <a:r>
              <a:t>• Docker Compose 2.x</a:t>
            </a:r>
          </a:p>
          <a:p>
            <a:pPr>
              <a:defRPr sz="1100">
                <a:solidFill>
                  <a:srgbClr val="1A202C"/>
                </a:solidFill>
              </a:defRPr>
            </a:pPr>
            <a:r>
              <a:t>• Nginx 1.25.x</a:t>
            </a:r>
          </a:p>
          <a:p>
            <a:pPr>
              <a:defRPr sz="1100">
                <a:solidFill>
                  <a:srgbClr val="1A202C"/>
                </a:solidFill>
              </a:defRPr>
            </a:pPr>
            <a:r>
              <a:t>• TRTC 5.18.x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22C55E"/>
                </a:solidFill>
              </a:defRPr>
            </a:pPr>
            <a:r>
              <a:t>09 / 12</a:t>
            </a:r>
          </a:p>
          <a:p>
            <a:pPr>
              <a:defRPr sz="3600" b="1">
                <a:solidFill>
                  <a:srgbClr val="1A202C"/>
                </a:solidFill>
              </a:defRPr>
            </a:pPr>
            <a:r>
              <a:t>技术创新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3108960" cy="2560320"/>
          </a:xfrm>
          <a:prstGeom prst="rect">
            <a:avLst/>
          </a:prstGeom>
          <a:solidFill>
            <a:srgbClr val="22C55E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1A202C"/>
                </a:solidFill>
              </a:defRPr>
            </a:pPr>
            <a:r>
              <a:t>AI驱动学习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>
                <a:solidFill>
                  <a:srgbClr val="1A202C"/>
                </a:solidFill>
              </a:defRPr>
            </a:pPr>
            <a:r>
              <a:t>深度整合大语言模型，个性化学习推荐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828800"/>
            <a:ext cx="3108960" cy="2560320"/>
          </a:xfrm>
          <a:prstGeom prst="rect">
            <a:avLst/>
          </a:prstGeom>
          <a:solidFill>
            <a:srgbClr val="FEF08A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21031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926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1A202C"/>
                </a:solidFill>
              </a:defRPr>
            </a:pPr>
            <a:r>
              <a:t>学分银行体系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3832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>
                <a:solidFill>
                  <a:srgbClr val="1A202C"/>
                </a:solidFill>
              </a:defRPr>
            </a:pPr>
            <a:r>
              <a:t>学习成果量化，建立完整学分流通体系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828800"/>
            <a:ext cx="3108960" cy="2560320"/>
          </a:xfrm>
          <a:prstGeom prst="rect">
            <a:avLst/>
          </a:prstGeom>
          <a:solidFill>
            <a:srgbClr val="BEE3F8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21031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926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1A202C"/>
                </a:solidFill>
              </a:defRPr>
            </a:pPr>
            <a:r>
              <a:t>实时视频面试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3832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>
                <a:solidFill>
                  <a:srgbClr val="1A202C"/>
                </a:solidFill>
              </a:defRPr>
            </a:pPr>
            <a:r>
              <a:t>整合TRTC，实现在线视频面试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846320"/>
            <a:ext cx="3108960" cy="2560320"/>
          </a:xfrm>
          <a:prstGeom prst="rect">
            <a:avLst/>
          </a:prstGeom>
          <a:solidFill>
            <a:srgbClr val="FECDD3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51206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1A202C"/>
                </a:solidFill>
              </a:defRPr>
            </a:pPr>
            <a:r>
              <a:t>Neo-brutal风格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4008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>
                <a:solidFill>
                  <a:srgbClr val="1A202C"/>
                </a:solidFill>
              </a:defRPr>
            </a:pPr>
            <a:r>
              <a:t>独特视觉风格，提升品牌识别度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4846320"/>
            <a:ext cx="3108960" cy="2560320"/>
          </a:xfrm>
          <a:prstGeom prst="rect">
            <a:avLst/>
          </a:prstGeom>
          <a:solidFill>
            <a:srgbClr val="DDD6FE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51206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5943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1A202C"/>
                </a:solidFill>
              </a:defRPr>
            </a:pPr>
            <a:r>
              <a:t>前后端分离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64008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>
                <a:solidFill>
                  <a:srgbClr val="1A202C"/>
                </a:solidFill>
              </a:defRPr>
            </a:pPr>
            <a:r>
              <a:t>Vue3+Spring Boot，快速迭代部署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22C55E"/>
                </a:solidFill>
              </a:defRPr>
            </a:pPr>
            <a:r>
              <a:t>10 / 12</a:t>
            </a:r>
          </a:p>
          <a:p>
            <a:pPr>
              <a:defRPr sz="3600" b="1">
                <a:solidFill>
                  <a:srgbClr val="1A202C"/>
                </a:solidFill>
              </a:defRPr>
            </a:pPr>
            <a:r>
              <a:t>流程演示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4572000" cy="4572000"/>
          </a:xfrm>
          <a:prstGeom prst="rect">
            <a:avLst/>
          </a:prstGeom>
          <a:solidFill>
            <a:srgbClr val="BEE3F8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1031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b="1">
                <a:solidFill>
                  <a:srgbClr val="1A202C"/>
                </a:solidFill>
              </a:defRPr>
            </a:pPr>
            <a:r>
              <a:t>面试流程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1A202C"/>
                </a:solidFill>
              </a:defRPr>
            </a:pPr>
            <a:r>
              <a:t>01. 浏览职位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1A202C"/>
                </a:solidFill>
              </a:defRPr>
            </a:pPr>
            <a:r>
              <a:t>02. 投递简历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1A202C"/>
                </a:solidFill>
              </a:defRPr>
            </a:pPr>
            <a:r>
              <a:t>03. 面试邀请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1A202C"/>
                </a:solidFill>
              </a:defRPr>
            </a:pPr>
            <a:r>
              <a:t>04. 在线面试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1A202C"/>
                </a:solidFill>
              </a:defRPr>
            </a:pPr>
            <a:r>
              <a:t>05. 面试结果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828800"/>
            <a:ext cx="4572000" cy="4572000"/>
          </a:xfrm>
          <a:prstGeom prst="rect">
            <a:avLst/>
          </a:prstGeom>
          <a:solidFill>
            <a:srgbClr val="FECDD3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21031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926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b="1">
                <a:solidFill>
                  <a:srgbClr val="1A202C"/>
                </a:solidFill>
              </a:defRPr>
            </a:pPr>
            <a:r>
              <a:t>活动流程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347472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1A202C"/>
                </a:solidFill>
              </a:defRPr>
            </a:pPr>
            <a:r>
              <a:t>01. 发布活动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11480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1A202C"/>
                </a:solidFill>
              </a:defRPr>
            </a:pPr>
            <a:r>
              <a:t>02. 邀请学员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75488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1A202C"/>
                </a:solidFill>
              </a:defRPr>
            </a:pPr>
            <a:r>
              <a:t>03. 报名参加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539496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1A202C"/>
                </a:solidFill>
              </a:defRPr>
            </a:pPr>
            <a:r>
              <a:t>04. 活动签到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603504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1A202C"/>
                </a:solidFill>
              </a:defRPr>
            </a:pPr>
            <a:r>
              <a:t>05. 获取学分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98480" y="1828800"/>
            <a:ext cx="4572000" cy="4572000"/>
          </a:xfrm>
          <a:prstGeom prst="rect">
            <a:avLst/>
          </a:prstGeom>
          <a:solidFill>
            <a:srgbClr val="22C55E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527280" y="21031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0" y="2926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学习流程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347472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FFFFFF"/>
                </a:solidFill>
              </a:defRPr>
            </a:pPr>
            <a:r>
              <a:t>01. 选择课程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411480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FFFFFF"/>
                </a:solidFill>
              </a:defRPr>
            </a:pPr>
            <a:r>
              <a:t>02. 开始学习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475488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FFFFFF"/>
                </a:solidFill>
              </a:defRPr>
            </a:pPr>
            <a:r>
              <a:t>03. 互动交流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539496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FFFFFF"/>
                </a:solidFill>
              </a:defRPr>
            </a:pPr>
            <a:r>
              <a:t>04. 完成课程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03504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FFFFFF"/>
                </a:solidFill>
              </a:defRPr>
            </a:pPr>
            <a:r>
              <a:t>05. 积累学分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22C55E"/>
                </a:solidFill>
              </a:defRPr>
            </a:pPr>
            <a:r>
              <a:t>11 / 12</a:t>
            </a:r>
          </a:p>
          <a:p>
            <a:pPr>
              <a:defRPr sz="3600" b="1">
                <a:solidFill>
                  <a:srgbClr val="1A202C"/>
                </a:solidFill>
              </a:defRPr>
            </a:pPr>
            <a:r>
              <a:t>组织管理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3474720" cy="2011680"/>
          </a:xfrm>
          <a:prstGeom prst="rect">
            <a:avLst/>
          </a:prstGeom>
          <a:solidFill>
            <a:srgbClr val="BEE3F8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/>
            </a:pPr>
            <a:r>
              <a:t>👨‍💻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011680"/>
            <a:ext cx="1645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1A202C"/>
                </a:solidFill>
              </a:defRPr>
            </a:pPr>
            <a:r>
              <a:t>[姓名]</a:t>
            </a:r>
          </a:p>
          <a:p>
            <a:pPr>
              <a:defRPr sz="1100">
                <a:solidFill>
                  <a:srgbClr val="1A202C"/>
                </a:solidFill>
              </a:defRPr>
            </a:pPr>
            <a:r>
              <a:t>[角色]</a:t>
            </a:r>
          </a:p>
          <a:p>
            <a:pPr>
              <a:defRPr sz="900">
                <a:solidFill>
                  <a:srgbClr val="1A202C"/>
                </a:solidFill>
              </a:defRPr>
            </a:pPr>
            <a:r>
              <a:t>[职责描述]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828800"/>
            <a:ext cx="3474720" cy="2011680"/>
          </a:xfrm>
          <a:prstGeom prst="rect">
            <a:avLst/>
          </a:prstGeom>
          <a:solidFill>
            <a:srgbClr val="FECDD3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20116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/>
            </a:pPr>
            <a:r>
              <a:t>👩‍💻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011680"/>
            <a:ext cx="1645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1A202C"/>
                </a:solidFill>
              </a:defRPr>
            </a:pPr>
            <a:r>
              <a:t>[姓名]</a:t>
            </a:r>
          </a:p>
          <a:p>
            <a:pPr>
              <a:defRPr sz="1100">
                <a:solidFill>
                  <a:srgbClr val="1A202C"/>
                </a:solidFill>
              </a:defRPr>
            </a:pPr>
            <a:r>
              <a:t>[角色]</a:t>
            </a:r>
          </a:p>
          <a:p>
            <a:pPr>
              <a:defRPr sz="900">
                <a:solidFill>
                  <a:srgbClr val="1A202C"/>
                </a:solidFill>
              </a:defRPr>
            </a:pPr>
            <a:r>
              <a:t>[职责描述]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1828800"/>
            <a:ext cx="3474720" cy="2011680"/>
          </a:xfrm>
          <a:prstGeom prst="rect">
            <a:avLst/>
          </a:prstGeom>
          <a:solidFill>
            <a:srgbClr val="FEF08A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20116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/>
            </a:pPr>
            <a:r>
              <a:t>👨‍🎨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2011680"/>
            <a:ext cx="1645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1A202C"/>
                </a:solidFill>
              </a:defRPr>
            </a:pPr>
            <a:r>
              <a:t>[姓名]</a:t>
            </a:r>
          </a:p>
          <a:p>
            <a:pPr>
              <a:defRPr sz="1100">
                <a:solidFill>
                  <a:srgbClr val="1A202C"/>
                </a:solidFill>
              </a:defRPr>
            </a:pPr>
            <a:r>
              <a:t>[角色]</a:t>
            </a:r>
          </a:p>
          <a:p>
            <a:pPr>
              <a:defRPr sz="900">
                <a:solidFill>
                  <a:srgbClr val="1A202C"/>
                </a:solidFill>
              </a:defRPr>
            </a:pPr>
            <a:r>
              <a:t>[职责描述]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0" y="1828800"/>
            <a:ext cx="3474720" cy="2011680"/>
          </a:xfrm>
          <a:prstGeom prst="rect">
            <a:avLst/>
          </a:prstGeom>
          <a:solidFill>
            <a:srgbClr val="DDD6FE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075920" y="20116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/>
            </a:pPr>
            <a:r>
              <a:t>👩‍🎨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0" y="2011680"/>
            <a:ext cx="1645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1A202C"/>
                </a:solidFill>
              </a:defRPr>
            </a:pPr>
            <a:r>
              <a:t>[姓名]</a:t>
            </a:r>
          </a:p>
          <a:p>
            <a:pPr>
              <a:defRPr sz="1100">
                <a:solidFill>
                  <a:srgbClr val="1A202C"/>
                </a:solidFill>
              </a:defRPr>
            </a:pPr>
            <a:r>
              <a:t>[角色]</a:t>
            </a:r>
          </a:p>
          <a:p>
            <a:pPr>
              <a:defRPr sz="900">
                <a:solidFill>
                  <a:srgbClr val="1A202C"/>
                </a:solidFill>
              </a:defRPr>
            </a:pPr>
            <a:r>
              <a:t>[职责描述]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389120"/>
            <a:ext cx="34747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457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22C55E"/>
                </a:solidFill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4805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1A202C"/>
                </a:solidFill>
              </a:defRPr>
            </a:pPr>
            <a:r>
              <a:t>需求分析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8463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900">
                <a:solidFill>
                  <a:srgbClr val="1A202C"/>
                </a:solidFill>
              </a:defRPr>
            </a:pPr>
            <a:r>
              <a:t>收集用户需求，分析业务场景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4389120"/>
            <a:ext cx="34747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4480560"/>
            <a:ext cx="457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22C55E"/>
                </a:solidFill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4805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1A202C"/>
                </a:solidFill>
              </a:defRPr>
            </a:pPr>
            <a:r>
              <a:t>系统设计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8463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900">
                <a:solidFill>
                  <a:srgbClr val="1A202C"/>
                </a:solidFill>
              </a:defRPr>
            </a:pPr>
            <a:r>
              <a:t>架构设计、数据库设计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4389120"/>
            <a:ext cx="34747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4480560"/>
            <a:ext cx="457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22C55E"/>
                </a:solidFill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44805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1A202C"/>
                </a:solidFill>
              </a:defRPr>
            </a:pPr>
            <a:r>
              <a:t>开发实现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48463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900">
                <a:solidFill>
                  <a:srgbClr val="1A202C"/>
                </a:solidFill>
              </a:defRPr>
            </a:pPr>
            <a:r>
              <a:t>前后端并行开发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801600" y="4389120"/>
            <a:ext cx="34747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984480" y="4480560"/>
            <a:ext cx="457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22C55E"/>
                </a:solidFill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0" y="44805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1A202C"/>
                </a:solidFill>
              </a:defRPr>
            </a:pPr>
            <a:r>
              <a:t>部署上线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0" y="48463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900">
                <a:solidFill>
                  <a:srgbClr val="1A202C"/>
                </a:solidFill>
              </a:defRPr>
            </a:pPr>
            <a:r>
              <a:t>Docker容器化部署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22C55E"/>
                </a:solidFill>
              </a:defRPr>
            </a:pPr>
            <a:r>
              <a:t>12 / 12</a:t>
            </a:r>
          </a:p>
          <a:p>
            <a:pPr>
              <a:defRPr sz="3600" b="1">
                <a:solidFill>
                  <a:srgbClr val="1A202C"/>
                </a:solidFill>
              </a:defRPr>
            </a:pPr>
            <a:r>
              <a:t>项目小结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640080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>
                <a:solidFill>
                  <a:srgbClr val="1A202C"/>
                </a:solidFill>
              </a:defRPr>
            </a:pPr>
            <a:r>
              <a:t>项目成果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560320"/>
            <a:ext cx="5852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1A202C"/>
                </a:solidFill>
              </a:defRPr>
            </a:pPr>
            <a:r>
              <a:t>✅ 完整的学习平台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课程学习、学分银行、社区论坛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91840"/>
            <a:ext cx="5852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1A202C"/>
                </a:solidFill>
              </a:defRPr>
            </a:pPr>
            <a:r>
              <a:t>✅ AI智能助手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个性化学习推荐和智能答疑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023360"/>
            <a:ext cx="5852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1A202C"/>
                </a:solidFill>
              </a:defRPr>
            </a:pPr>
            <a:r>
              <a:t>✅ 企业对接功能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企业入驻、职位发布、在线面试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754880"/>
            <a:ext cx="5852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1A202C"/>
                </a:solidFill>
              </a:defRPr>
            </a:pPr>
            <a:r>
              <a:t>✅ Neo-brutal设计</a:t>
            </a:r>
          </a:p>
          <a:p>
            <a:pPr>
              <a:defRPr sz="1000">
                <a:solidFill>
                  <a:srgbClr val="1A202C"/>
                </a:solidFill>
              </a:defRPr>
            </a:pPr>
            <a:r>
              <a:t>独特视觉风格，提升品牌识别度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828800"/>
            <a:ext cx="640080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201168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>
                <a:solidFill>
                  <a:srgbClr val="1A202C"/>
                </a:solidFill>
              </a:defRPr>
            </a:pPr>
            <a:r>
              <a:t>未来展望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560320"/>
            <a:ext cx="5852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1A202C"/>
                </a:solidFill>
              </a:defRPr>
            </a:pPr>
            <a:r>
              <a:t>💡 深化AI应用 - AI课程生成、智能评估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200400"/>
            <a:ext cx="5852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1A202C"/>
                </a:solidFill>
              </a:defRPr>
            </a:pPr>
            <a:r>
              <a:t>💡 扩展社交功能 - 学习小组、好友互动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840480"/>
            <a:ext cx="5852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1A202C"/>
                </a:solidFill>
              </a:defRPr>
            </a:pPr>
            <a:r>
              <a:t>💡 移动端适配 - 小程序和APP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480560"/>
            <a:ext cx="5852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1A202C"/>
                </a:solidFill>
              </a:defRPr>
            </a:pPr>
            <a:r>
              <a:t>💡 数据分析平台 - 可视化报表和洞察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669280"/>
            <a:ext cx="32004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57607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22C55E"/>
                </a:solidFill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85216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1A202C"/>
                </a:solidFill>
              </a:defRPr>
            </a:pPr>
            <a:r>
              <a:t>核心模块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5669280"/>
            <a:ext cx="32004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57607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22C55E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585216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1A202C"/>
                </a:solidFill>
              </a:defRPr>
            </a:pPr>
            <a:r>
              <a:t>技术创新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5669280"/>
            <a:ext cx="32004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57607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22C55E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585216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1A202C"/>
                </a:solidFill>
              </a:defRPr>
            </a:pPr>
            <a:r>
              <a:t>核心流程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200" y="5669280"/>
            <a:ext cx="32004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61520" y="57607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22C55E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0" y="585216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1A202C"/>
                </a:solidFill>
              </a:defRPr>
            </a:pPr>
            <a:r>
              <a:t>团队成员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>
                <a:solidFill>
                  <a:srgbClr val="22C55E"/>
                </a:solidFill>
              </a:defRPr>
            </a:pPr>
            <a:r>
              <a:t>感谢聆听！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